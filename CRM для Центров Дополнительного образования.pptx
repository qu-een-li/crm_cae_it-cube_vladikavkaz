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Old Standard TT" panose="020B0604020202020204" charset="-52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78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0b95f86ae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0b95f86ae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b95f86ae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b95f86ae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0c1a5fd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0c1a5fd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c1a5fde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c1a5fde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1981d9e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1981d9e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1981d9e2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1981d9e2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1981d9e2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1981d9e2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1981d9e2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1981d9e2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1981d9e2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1981d9e2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 panose="00000500000000000000"/>
              <a:buNone/>
              <a:defRPr sz="3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 panose="00000500000000000000"/>
              <a:buChar char="●"/>
              <a:defRPr sz="18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○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■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●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○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■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●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○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 panose="00000500000000000000"/>
              <a:buChar char="■"/>
              <a:defRPr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 panose="00000500000000000000"/>
                <a:ea typeface="Old Standard TT" panose="00000500000000000000"/>
                <a:cs typeface="Old Standard TT" panose="00000500000000000000"/>
                <a:sym typeface="Old Standard TT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CRM для Центров Дополнительного образования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545455" y="3912235"/>
            <a:ext cx="3488055" cy="10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/>
              <a:t>Очилов Артур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900"/>
              <a:t>Сидакова Вероника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 чем цель проекта?</a:t>
            </a: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20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Преподавателям в ЦДО приходится работать с бумажками, и вести учет учеников карандашем - Это очень неудобно, а главное поиск и хранение таких документов тратит много места и времени. Также не стоит забывать о человеческом факторе.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3149" y="2388125"/>
            <a:ext cx="4055674" cy="24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202250" y="2388125"/>
            <a:ext cx="4761851" cy="24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Какие проблемы мой проект решает</a:t>
            </a:r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057935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 err="1"/>
              <a:t>Упрощение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учениками</a:t>
            </a:r>
            <a:r>
              <a:rPr lang="ru-RU" altLang="en-US" dirty="0"/>
              <a:t> и преподавателями</a:t>
            </a:r>
            <a:r>
              <a:rPr lang="en-US" dirty="0"/>
              <a:t>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 err="1"/>
              <a:t>Автоматизация</a:t>
            </a:r>
            <a:r>
              <a:rPr lang="en-US" dirty="0"/>
              <a:t> </a:t>
            </a:r>
            <a:r>
              <a:rPr lang="en-US" dirty="0" err="1"/>
              <a:t>составления</a:t>
            </a:r>
            <a:r>
              <a:rPr lang="ru-RU" altLang="en-US" dirty="0"/>
              <a:t> </a:t>
            </a:r>
            <a:r>
              <a:rPr lang="en-US" dirty="0" err="1"/>
              <a:t>периодических</a:t>
            </a:r>
            <a:r>
              <a:rPr lang="en-US" dirty="0"/>
              <a:t> </a:t>
            </a:r>
            <a:r>
              <a:rPr lang="en-US" dirty="0" err="1"/>
              <a:t>отчетов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 err="1"/>
              <a:t>Упрощение</a:t>
            </a:r>
            <a:r>
              <a:rPr lang="en-US" dirty="0"/>
              <a:t> </a:t>
            </a:r>
            <a:r>
              <a:rPr lang="en-US" dirty="0" err="1"/>
              <a:t>просмотра</a:t>
            </a:r>
            <a:r>
              <a:rPr lang="en-US" dirty="0"/>
              <a:t> </a:t>
            </a:r>
            <a:r>
              <a:rPr lang="en-US" dirty="0" err="1"/>
              <a:t>будущих</a:t>
            </a:r>
            <a:r>
              <a:rPr lang="en-US" dirty="0"/>
              <a:t> </a:t>
            </a:r>
            <a:r>
              <a:rPr lang="en-US" dirty="0" err="1"/>
              <a:t>конкурсов</a:t>
            </a:r>
            <a:r>
              <a:rPr lang="ru-RU" altLang="en-US" dirty="0"/>
              <a:t> и курсов и </a:t>
            </a:r>
            <a:r>
              <a:rPr lang="ru-RU" altLang="en-US" dirty="0" err="1"/>
              <a:t>управленя</a:t>
            </a:r>
            <a:r>
              <a:rPr lang="ru-RU" altLang="en-US" dirty="0"/>
              <a:t> ими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 err="1"/>
              <a:t>Просмотр</a:t>
            </a:r>
            <a:r>
              <a:rPr lang="en-US" dirty="0"/>
              <a:t> </a:t>
            </a:r>
            <a:r>
              <a:rPr lang="en-US" dirty="0" err="1"/>
              <a:t>расписания</a:t>
            </a:r>
            <a:r>
              <a:rPr lang="en-US" dirty="0"/>
              <a:t> </a:t>
            </a:r>
            <a:r>
              <a:rPr lang="en-US" dirty="0" err="1"/>
              <a:t>онлайн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dirty="0" err="1" smtClean="0"/>
              <a:t>Отмечивание</a:t>
            </a:r>
            <a:r>
              <a:rPr lang="ru-RU" dirty="0" smtClean="0"/>
              <a:t> </a:t>
            </a:r>
            <a:r>
              <a:rPr lang="en-US" dirty="0" err="1" smtClean="0"/>
              <a:t>посещаемост</a:t>
            </a:r>
            <a:r>
              <a:rPr lang="ru-RU" dirty="0" smtClean="0"/>
              <a:t>и</a:t>
            </a:r>
            <a:r>
              <a:rPr lang="en-US" dirty="0" smtClean="0"/>
              <a:t> </a:t>
            </a:r>
            <a:r>
              <a:rPr lang="en-US" dirty="0" err="1"/>
              <a:t>учеников</a:t>
            </a:r>
            <a:endParaRPr lang="en-US" dirty="0"/>
          </a:p>
          <a:p>
            <a:pPr lvl="0">
              <a:buAutoNum type="arabicPeriod"/>
            </a:pPr>
            <a:r>
              <a:rPr lang="ru-RU" dirty="0"/>
              <a:t>Анализ работы преподавателей</a:t>
            </a:r>
            <a:endParaRPr lang="en-US" dirty="0"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297700" y="3153627"/>
            <a:ext cx="3125100" cy="73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30" y="3153410"/>
            <a:ext cx="550545" cy="18307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940" y="4054475"/>
            <a:ext cx="3124835" cy="929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219" y="3153410"/>
            <a:ext cx="3410585" cy="7330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Демонстрация проекта</a:t>
            </a:r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5467425" y="1058225"/>
            <a:ext cx="34341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 QR-code на сайт:</a:t>
            </a:r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764950" y="1058225"/>
            <a:ext cx="34341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 QR-code на GitHub проекта:</a:t>
            </a: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580175" y="1426300"/>
            <a:ext cx="3079400" cy="308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4950" y="1400456"/>
            <a:ext cx="3079400" cy="311391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5580175" y="405425"/>
            <a:ext cx="34341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Url адрес сайта: http://158.160.104.26:5001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проект</a:t>
            </a:r>
            <a:r>
              <a:rPr lang="en-US" dirty="0"/>
              <a:t>?</a:t>
            </a: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17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indent="-300355">
              <a:buSzPct val="100000"/>
            </a:pPr>
            <a:r>
              <a:rPr lang="ru-RU" dirty="0"/>
              <a:t>Управление данными учеников и преподавателей </a:t>
            </a:r>
          </a:p>
          <a:p>
            <a:pPr lvl="0" indent="-300355">
              <a:buSzPct val="100000"/>
            </a:pPr>
            <a:r>
              <a:rPr lang="ru-RU" dirty="0"/>
              <a:t>Работа с группами и направлениями (просмотр, создание, перевод </a:t>
            </a:r>
            <a:r>
              <a:rPr lang="ru-RU" dirty="0" smtClean="0"/>
              <a:t>учеников)</a:t>
            </a:r>
          </a:p>
          <a:p>
            <a:pPr lvl="0" indent="-300355">
              <a:buSzPct val="100000"/>
            </a:pPr>
            <a:r>
              <a:rPr lang="ru-RU" dirty="0" smtClean="0"/>
              <a:t>Управление </a:t>
            </a:r>
            <a:r>
              <a:rPr lang="ru-RU" dirty="0"/>
              <a:t>профилем учителя (данные, фото) </a:t>
            </a:r>
          </a:p>
          <a:p>
            <a:pPr lvl="0" indent="-300355">
              <a:buSzPct val="100000"/>
            </a:pPr>
            <a:r>
              <a:rPr lang="ru-RU" dirty="0"/>
              <a:t>Расписание с фильтрацией по группам и добавлением событий</a:t>
            </a:r>
          </a:p>
          <a:p>
            <a:pPr lvl="0" indent="-300355">
              <a:buSzPct val="100000"/>
            </a:pPr>
            <a:r>
              <a:rPr lang="ru-RU" dirty="0"/>
              <a:t>Отслеживание посещаемости и прогресса учеников </a:t>
            </a:r>
          </a:p>
          <a:p>
            <a:pPr lvl="0" indent="-300355">
              <a:buSzPct val="100000"/>
            </a:pPr>
            <a:r>
              <a:rPr lang="ru-RU" dirty="0"/>
              <a:t>Автоматическая генерация отчётов </a:t>
            </a:r>
          </a:p>
          <a:p>
            <a:pPr lvl="0" indent="-300355">
              <a:buSzPct val="100000"/>
            </a:pPr>
            <a:r>
              <a:rPr lang="ru-RU" dirty="0"/>
              <a:t>Каталог конкурсов и курсов повышения квалификации</a:t>
            </a:r>
            <a:r>
              <a:rPr lang="en-US" dirty="0"/>
              <a:t> </a:t>
            </a:r>
            <a:r>
              <a:rPr lang="ru-RU" altLang="en-US" dirty="0"/>
              <a:t>для преподавателей</a:t>
            </a:r>
            <a:r>
              <a:rPr lang="en-US" altLang="en-US" dirty="0"/>
              <a:t>.</a:t>
            </a:r>
            <a:endParaRPr lang="ru-RU" altLang="en-US" dirty="0"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835104" y="2895400"/>
            <a:ext cx="1997196" cy="211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81675" y="2895400"/>
            <a:ext cx="3063402" cy="211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906550" y="2895400"/>
            <a:ext cx="2567081" cy="211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311700" y="5584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Архитектура проекта</a:t>
            </a:r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6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Корневая папка проекта делится на: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static -&gt; Изображения, файлы, что “сырыми” отправляются пользователю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routes -&gt; Адреса страниц и функции, что передают html пользователю по ним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forms -&gt; flask-wtf формы, передаются на страницы c формами и обеспечивают csrf защиту.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api -&gt; вся работа над модулями: “расписание”, “группы” и “посещаемость” переведены на restful-api структура. Классы и адреса для flask_restful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templates -&gt; Jinja2 шаблоны, в них передаются данные из функций в routes.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data -&gt; структура sql-alchemy классов - таблиц, описывающих  базу данных.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db -&gt; файл базы данных sqlite в .db.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Архитектура БД</a:t>
            </a:r>
          </a:p>
        </p:txBody>
      </p:sp>
      <p:pic>
        <p:nvPicPr>
          <p:cNvPr id="2" name="Pictur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057910"/>
            <a:ext cx="680339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26800" cy="9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900" dirty="0" err="1"/>
              <a:t>Выводы</a:t>
            </a:r>
            <a:r>
              <a:rPr lang="en-US" sz="4900" dirty="0"/>
              <a:t>:</a:t>
            </a:r>
            <a:endParaRPr sz="4900" dirty="0"/>
          </a:p>
        </p:txBody>
      </p:sp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885400" cy="3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dirty="0" err="1"/>
              <a:t>Было</a:t>
            </a:r>
            <a:r>
              <a:rPr lang="en-US" sz="3150" dirty="0"/>
              <a:t> </a:t>
            </a:r>
            <a:r>
              <a:rPr lang="en-US" sz="3150" dirty="0" err="1"/>
              <a:t>выполнено</a:t>
            </a:r>
            <a:r>
              <a:rPr lang="en-US" sz="3150" dirty="0" smtClean="0"/>
              <a:t>:</a:t>
            </a:r>
            <a:endParaRPr lang="ru-RU" sz="3150" dirty="0" smtClean="0"/>
          </a:p>
          <a:p>
            <a:r>
              <a:rPr lang="ru-RU" sz="3200" b="1" dirty="0"/>
              <a:t>Управление пользователями:</a:t>
            </a:r>
            <a:r>
              <a:rPr lang="ru-RU" sz="3200" dirty="0"/>
              <a:t> добавление и редактирование данных учеников и учителей (включая загрузку фото).</a:t>
            </a:r>
          </a:p>
          <a:p>
            <a:r>
              <a:rPr lang="ru-RU" sz="3200" b="1" dirty="0"/>
              <a:t>Управление группами:</a:t>
            </a:r>
            <a:r>
              <a:rPr lang="ru-RU" sz="3200" dirty="0"/>
              <a:t> просмотр направлений, распределение, удаление и перенос учеников между группами.</a:t>
            </a:r>
          </a:p>
          <a:p>
            <a:r>
              <a:rPr lang="ru-RU" sz="3200" b="1" dirty="0"/>
              <a:t>Интерактивное расписание:</a:t>
            </a:r>
            <a:r>
              <a:rPr lang="ru-RU" sz="3200" dirty="0"/>
              <a:t> бесконечная прокрутка по неделям, создание повторяющихся событий и фильтрация по группам.</a:t>
            </a:r>
          </a:p>
          <a:p>
            <a:r>
              <a:rPr lang="ru-RU" sz="3200" b="1" dirty="0"/>
              <a:t>Контроль посещаемости:</a:t>
            </a:r>
            <a:r>
              <a:rPr lang="ru-RU" sz="3200" dirty="0"/>
              <a:t> отслеживание </a:t>
            </a:r>
            <a:r>
              <a:rPr lang="ru-RU" sz="3200" dirty="0" smtClean="0"/>
              <a:t>посещаемости учеников </a:t>
            </a:r>
            <a:r>
              <a:rPr lang="ru-RU" sz="3200" dirty="0"/>
              <a:t>и автоматическая генерация отчетов по группам и педагогам.</a:t>
            </a:r>
          </a:p>
          <a:p>
            <a:r>
              <a:rPr lang="ru-RU" sz="3200" b="1" dirty="0"/>
              <a:t>Учет активности учителей:</a:t>
            </a:r>
            <a:r>
              <a:rPr lang="ru-RU" sz="3200" dirty="0"/>
              <a:t> отчеты по участию в конкурсах и курсах повышения квалификации с удобной привязкой.</a:t>
            </a:r>
          </a:p>
          <a:p>
            <a:r>
              <a:rPr lang="ru-RU" sz="3200" b="1" dirty="0"/>
              <a:t>Безопасность и интеграция:</a:t>
            </a:r>
            <a:r>
              <a:rPr lang="ru-RU" sz="3200" dirty="0"/>
              <a:t> авторизация пользователей (вход в аккаунт) и разработка API.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Планы на будущее</a:t>
            </a: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сайта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любого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(</a:t>
            </a:r>
            <a:r>
              <a:rPr lang="en-US" dirty="0" err="1"/>
              <a:t>гостя</a:t>
            </a:r>
            <a:r>
              <a:rPr lang="en-US" dirty="0"/>
              <a:t>) с </a:t>
            </a:r>
            <a:r>
              <a:rPr lang="en-US" dirty="0" err="1"/>
              <a:t>публичными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Автоматизация</a:t>
            </a:r>
            <a:r>
              <a:rPr lang="en-US" dirty="0"/>
              <a:t> </a:t>
            </a:r>
            <a:r>
              <a:rPr lang="en-US" dirty="0" err="1"/>
              <a:t>составления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соответствующих</a:t>
            </a:r>
            <a:r>
              <a:rPr lang="en-US" dirty="0"/>
              <a:t> </a:t>
            </a:r>
            <a:r>
              <a:rPr lang="en-US" dirty="0" err="1"/>
              <a:t>отчетов</a:t>
            </a:r>
            <a:r>
              <a:rPr lang="en-US" dirty="0"/>
              <a:t>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Нахождение</a:t>
            </a:r>
            <a:r>
              <a:rPr lang="en-US" dirty="0"/>
              <a:t> и </a:t>
            </a:r>
            <a:r>
              <a:rPr lang="en-US" dirty="0" err="1"/>
              <a:t>искоренение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дыр</a:t>
            </a:r>
            <a:r>
              <a:rPr lang="en-US" dirty="0"/>
              <a:t> в </a:t>
            </a:r>
            <a:r>
              <a:rPr lang="en-US" dirty="0" err="1"/>
              <a:t>безопасности</a:t>
            </a:r>
            <a:r>
              <a:rPr lang="en-US" dirty="0"/>
              <a:t>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Введение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проекта</a:t>
            </a:r>
            <a:r>
              <a:rPr lang="en-US" dirty="0"/>
              <a:t> в </a:t>
            </a:r>
            <a:r>
              <a:rPr lang="en-US" dirty="0" err="1"/>
              <a:t>оборот</a:t>
            </a:r>
            <a:r>
              <a:rPr lang="en-US" dirty="0"/>
              <a:t> ЦДО “IT-Cube”.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Получение</a:t>
            </a:r>
            <a:r>
              <a:rPr lang="en-US" dirty="0"/>
              <a:t> </a:t>
            </a:r>
            <a:r>
              <a:rPr lang="en-US" dirty="0" err="1"/>
              <a:t>гранта</a:t>
            </a:r>
            <a:r>
              <a:rPr lang="en-US" dirty="0"/>
              <a:t>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Коммерческий</a:t>
            </a:r>
            <a:r>
              <a:rPr lang="en-US" dirty="0"/>
              <a:t> </a:t>
            </a:r>
            <a:r>
              <a:rPr lang="en-US" dirty="0" err="1"/>
              <a:t>оборот</a:t>
            </a:r>
            <a:r>
              <a:rPr lang="en-US" dirty="0"/>
              <a:t> в </a:t>
            </a:r>
            <a:r>
              <a:rPr lang="en-US" dirty="0" err="1"/>
              <a:t>другие</a:t>
            </a:r>
            <a:r>
              <a:rPr lang="en-US" dirty="0"/>
              <a:t> в ЦДО.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идеального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Quality-of-life </a:t>
            </a:r>
            <a:r>
              <a:rPr lang="en-US" dirty="0" err="1"/>
              <a:t>сайта</a:t>
            </a:r>
            <a:r>
              <a:rPr lang="en-US" dirty="0"/>
              <a:t>                            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с </a:t>
            </a:r>
            <a:r>
              <a:rPr lang="en-US" dirty="0" err="1"/>
              <a:t>оборота</a:t>
            </a:r>
            <a:r>
              <a:rPr lang="en-US" dirty="0"/>
              <a:t> в ЦДО “IT-Cube”.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927500" y="1978248"/>
            <a:ext cx="1904800" cy="2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778725"/>
            <a:ext cx="116724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/>
              <a:t>Спасибо за внимание!</a:t>
            </a:r>
            <a:endParaRPr sz="6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443</Words>
  <Application>Microsoft Office PowerPoint</Application>
  <PresentationFormat>Экран (16:9)</PresentationFormat>
  <Paragraphs>51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Old Standard TT</vt:lpstr>
      <vt:lpstr>Arial</vt:lpstr>
      <vt:lpstr>Paperback</vt:lpstr>
      <vt:lpstr>CRM для Центров Дополнительного образования</vt:lpstr>
      <vt:lpstr>В чем цель проекта?</vt:lpstr>
      <vt:lpstr>Какие проблемы мой проект решает</vt:lpstr>
      <vt:lpstr>Демонстрация проекта</vt:lpstr>
      <vt:lpstr>Что может проект?</vt:lpstr>
      <vt:lpstr>Архитектура проекта</vt:lpstr>
      <vt:lpstr>Архитектура БД</vt:lpstr>
      <vt:lpstr>Выводы:</vt:lpstr>
      <vt:lpstr>Планы на будущее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для Центров Дополнительного образования</dc:title>
  <dc:creator/>
  <cp:lastModifiedBy>Тимур Очилов</cp:lastModifiedBy>
  <cp:revision>4</cp:revision>
  <dcterms:created xsi:type="dcterms:W3CDTF">2026-05-14T11:07:05Z</dcterms:created>
  <dcterms:modified xsi:type="dcterms:W3CDTF">2026-05-14T13:28:43Z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CCE9731133AC4A4B91DFCEF626259232_13</vt:lpwstr>
  </property>
  <property fmtid="{D5CDD505-2E9C-101B-9397-08002B2CF9AE}" pid="3" name="KSOProductBuildVer">
    <vt:lpwstr>1033-12.2.0.23196</vt:lpwstr>
  </property>
</Properties>
</file>